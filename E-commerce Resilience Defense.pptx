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1" r:id="rId1"/>
  </p:sldMasterIdLst>
  <p:notesMasterIdLst>
    <p:notesMasterId r:id="rId14"/>
  </p:notesMasterIdLst>
  <p:sldIdLst>
    <p:sldId id="268" r:id="rId2"/>
    <p:sldId id="257" r:id="rId3"/>
    <p:sldId id="269" r:id="rId4"/>
    <p:sldId id="258" r:id="rId5"/>
    <p:sldId id="270" r:id="rId6"/>
    <p:sldId id="259" r:id="rId7"/>
    <p:sldId id="260" r:id="rId8"/>
    <p:sldId id="262" r:id="rId9"/>
    <p:sldId id="263" r:id="rId10"/>
    <p:sldId id="266" r:id="rId11"/>
    <p:sldId id="271" r:id="rId12"/>
    <p:sldId id="265" r:id="rId13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E0C"/>
    <a:srgbClr val="1C75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114" y="7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7593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FC7A5-6367-3F51-D486-90BF47E47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1037FF-E25F-AEEA-4158-FF5BDDC21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1712A4-190B-7C02-B08C-83A5D79BE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F23E3-37B1-85E9-8B54-2CDB9DBF22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575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uk-UA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uk-UA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574800"/>
            <a:ext cx="6619244" cy="2008236"/>
          </a:xfrm>
        </p:spPr>
        <p:txBody>
          <a:bodyPr anchor="b"/>
          <a:lstStyle>
            <a:lvl1pPr>
              <a:defRPr sz="405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866216" y="3583035"/>
            <a:ext cx="6619244" cy="646065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uk-UA"/>
              <a:t>Клацніть, щоб редагувати стиль зразка підзаголовка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619239" y="1344169"/>
            <a:ext cx="742949" cy="2285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smtClean="0"/>
              <a:pPr/>
              <a:t>1/28/2026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713982" y="2420874"/>
            <a:ext cx="2894846" cy="2286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uk-UA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64406" y="221797"/>
            <a:ext cx="628649" cy="57576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40341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16" y="1952625"/>
            <a:ext cx="6619244" cy="2562225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46834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2008234"/>
            <a:ext cx="3263269" cy="1712868"/>
          </a:xfrm>
        </p:spPr>
        <p:txBody>
          <a:bodyPr anchor="ctr"/>
          <a:lstStyle>
            <a:lvl1pPr algn="l">
              <a:defRPr sz="3000" b="0" cap="none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71670" y="2008233"/>
            <a:ext cx="2818159" cy="1712868"/>
          </a:xfrm>
        </p:spPr>
        <p:txBody>
          <a:bodyPr anchor="ctr"/>
          <a:lstStyle>
            <a:lvl1pPr marL="0" indent="0" algn="l">
              <a:buNone/>
              <a:defRPr sz="15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979901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15" y="1952625"/>
            <a:ext cx="3618869" cy="2562226"/>
          </a:xfrm>
        </p:spPr>
        <p:txBody>
          <a:bodyPr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6535" y="1952625"/>
            <a:ext cx="3618869" cy="2562225"/>
          </a:xfrm>
        </p:spPr>
        <p:txBody>
          <a:bodyPr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981364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361886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215" y="2384822"/>
            <a:ext cx="3618869" cy="2130029"/>
          </a:xfrm>
        </p:spPr>
        <p:txBody>
          <a:bodyPr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56535" y="1952625"/>
            <a:ext cx="361886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56535" y="2384822"/>
            <a:ext cx="3618869" cy="2130029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817699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571060" cy="530223"/>
          </a:xfrm>
        </p:spPr>
        <p:txBody>
          <a:bodyPr/>
          <a:lstStyle>
            <a:lvl1pPr>
              <a:defRPr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59359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700024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Вміст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971550"/>
            <a:ext cx="2094869" cy="1200150"/>
          </a:xfrm>
        </p:spPr>
        <p:txBody>
          <a:bodyPr anchor="b"/>
          <a:lstStyle>
            <a:lvl1pPr algn="l">
              <a:defRPr sz="1800" b="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5859" y="1085850"/>
            <a:ext cx="3892550" cy="3429000"/>
          </a:xfrm>
        </p:spPr>
        <p:txBody>
          <a:bodyPr anchor="ctr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5" y="2346961"/>
            <a:ext cx="2094869" cy="2171699"/>
          </a:xfrm>
        </p:spPr>
        <p:txBody>
          <a:bodyPr/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39284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270000"/>
            <a:ext cx="2898851" cy="1301750"/>
          </a:xfrm>
        </p:spPr>
        <p:txBody>
          <a:bodyPr anchor="b">
            <a:normAutofit/>
          </a:bodyPr>
          <a:lstStyle>
            <a:lvl1pPr algn="l">
              <a:defRPr sz="2700" b="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910903" y="857250"/>
            <a:ext cx="2420395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pPr marL="0" lvl="0" indent="0" algn="ctr">
              <a:buNone/>
            </a:pPr>
            <a:r>
              <a:rPr lang="uk-UA"/>
              <a:t>Клацніть піктограму, щоб додати зображення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6" y="2743200"/>
            <a:ext cx="2894409" cy="1028700"/>
          </a:xfrm>
        </p:spPr>
        <p:txBody>
          <a:bodyPr>
            <a:normAutofit/>
          </a:bodyPr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34239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 фотографія з підпис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3727445"/>
            <a:ext cx="6619244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216" y="514350"/>
            <a:ext cx="6619244" cy="257175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uk-UA"/>
              <a:t>Клацніть піктограму, щоб додати зображення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5" y="4152499"/>
            <a:ext cx="6619244" cy="370284"/>
          </a:xfrm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451C3-0FF4-47C4-B829-773ADF60F88C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056299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Назва та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1598" y="797563"/>
            <a:ext cx="6623862" cy="1029740"/>
          </a:xfrm>
        </p:spPr>
        <p:txBody>
          <a:bodyPr/>
          <a:lstStyle>
            <a:lvl1pPr>
              <a:defRPr sz="30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657475"/>
            <a:ext cx="6619244" cy="1857375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451C3-0FF4-47C4-B829-773ADF60F88C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7911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Цитата з підпис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661175" y="455502"/>
            <a:ext cx="6014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7413344" y="1960341"/>
            <a:ext cx="4895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6408" y="736600"/>
            <a:ext cx="6340430" cy="2022474"/>
          </a:xfrm>
        </p:spPr>
        <p:txBody>
          <a:bodyPr/>
          <a:lstStyle>
            <a:lvl1pPr>
              <a:defRPr sz="30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459459" y="2759074"/>
            <a:ext cx="5798414" cy="256631"/>
          </a:xfrm>
        </p:spPr>
        <p:txBody>
          <a:bodyPr anchor="t">
            <a:normAutofit/>
          </a:bodyPr>
          <a:lstStyle>
            <a:lvl1pPr marL="0" indent="0">
              <a:buNone/>
              <a:defRPr lang="en-US" sz="105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3771899"/>
            <a:ext cx="6933673" cy="748393"/>
          </a:xfrm>
        </p:spPr>
        <p:txBody>
          <a:bodyPr anchor="ctr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451C3-0FF4-47C4-B829-773ADF60F88C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551294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Картка назв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778000"/>
            <a:ext cx="6619245" cy="136688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768725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451C3-0FF4-47C4-B829-773ADF60F88C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977618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1952626"/>
            <a:ext cx="235640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215" y="2384823"/>
            <a:ext cx="2356409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4541" y="1952625"/>
            <a:ext cx="236025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4541" y="2384823"/>
            <a:ext cx="2360257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16101" y="1952626"/>
            <a:ext cx="235929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16247" y="2384822"/>
            <a:ext cx="2359152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302978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29301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451C3-0FF4-47C4-B829-773ADF60F88C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36372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колонки з малю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3399633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00915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uk-UA"/>
              <a:t>Клацніть піктограму, щоб додати зображення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215" y="3831830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26649" y="3399634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61347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uk-UA"/>
              <a:t>Клацніть піктограму, щоб додати зображення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27629" y="3831829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7082" y="3399634"/>
            <a:ext cx="228832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22273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uk-UA"/>
              <a:t>Клацніть піктограму, щоб додати зображення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87081" y="3831828"/>
            <a:ext cx="2288322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3304373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5848352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451C3-0FF4-47C4-B829-773ADF60F88C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20833" y="4793879"/>
            <a:ext cx="2733212" cy="228601"/>
          </a:xfrm>
        </p:spPr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67665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1952625"/>
            <a:ext cx="6619244" cy="2562225"/>
          </a:xfrm>
        </p:spPr>
        <p:txBody>
          <a:bodyPr vert="eaVert" anchor="t" anchorCtr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21580" y="4793879"/>
            <a:ext cx="742949" cy="228599"/>
          </a:xfrm>
        </p:spPr>
        <p:txBody>
          <a:bodyPr/>
          <a:lstStyle/>
          <a:p>
            <a:fld id="{53086D93-FCAC-47E0-A2EE-787E62CA814C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600573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38927" y="958850"/>
            <a:ext cx="1057474" cy="3561443"/>
          </a:xfrm>
        </p:spPr>
        <p:txBody>
          <a:bodyPr vert="eaVert" anchor="b" anchorCtr="0"/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958850"/>
            <a:ext cx="4692019" cy="3561443"/>
          </a:xfrm>
        </p:spPr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9829" y="4793879"/>
            <a:ext cx="744101" cy="228599"/>
          </a:xfrm>
        </p:spPr>
        <p:txBody>
          <a:bodyPr/>
          <a:lstStyle/>
          <a:p>
            <a:fld id="{CDA879A6-0FD0-4734-A311-86BFCA472E6E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6668757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2324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0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uk-UA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uk-UA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uk-UA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uk-UA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uk-UA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uk-UA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uk-UA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uk-UA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uk-UA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216" y="730251"/>
            <a:ext cx="6571060" cy="5302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6571060" cy="2562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89829" y="4793879"/>
            <a:ext cx="742949" cy="2285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0833" y="4793879"/>
            <a:ext cx="2894846" cy="2286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4406" y="221797"/>
            <a:ext cx="628649" cy="5757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1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0154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  <p:sldLayoutId id="2147483718" r:id="rId17"/>
    <p:sldLayoutId id="2147483719" r:id="rId18"/>
  </p:sldLayoutIdLst>
  <p:hf sldNum="0" hdr="0" ftr="0" dt="0"/>
  <p:txStyles>
    <p:titleStyle>
      <a:lvl1pPr algn="l" defTabSz="342900" rtl="0" eaLnBrk="1" latinLnBrk="0" hangingPunct="1">
        <a:spcBef>
          <a:spcPct val="0"/>
        </a:spcBef>
        <a:buNone/>
        <a:defRPr sz="27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12946" y="596652"/>
            <a:ext cx="6317959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Панельний аналіз стійкості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09600" y="1221432"/>
            <a:ext cx="7924800" cy="109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електронної комерції до глобальних криз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082708" y="2470993"/>
            <a:ext cx="497843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of E-commerce Resilience During Global Shocks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651823" y="3347293"/>
            <a:ext cx="384035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🔬 </a:t>
            </a:r>
            <a:r>
              <a:rPr lang="en-US" sz="1050" dirty="0" err="1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Академічне</a:t>
            </a: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50" dirty="0" err="1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дослідження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651823" y="3587204"/>
            <a:ext cx="384035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Панельні дані 2012–2024 | </a:t>
            </a:r>
            <a:r>
              <a:rPr lang="ru-RU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країн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51823" y="3827115"/>
            <a:ext cx="384035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✍️ Лобачов Ілля Олександрович | Владислав Вдовенко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651823" y="4067026"/>
            <a:ext cx="384035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</a:t>
            </a:r>
            <a:r>
              <a:rPr lang="en-US" sz="1050" dirty="0" err="1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Січень</a:t>
            </a: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2025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51823" y="4306937"/>
            <a:ext cx="384035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Master of Science in Data Science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Актуальність дослідження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37886" y="1640507"/>
            <a:ext cx="2910114" cy="15769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🦠 COVID-19: глобальне закриття 2020–2021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⚔️ Конфлікт в Україні: </a:t>
            </a:r>
            <a:r>
              <a:rPr lang="en-US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енергетична</a:t>
            </a:r>
            <a:r>
              <a:rPr lang="uk-UA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та економічна</a:t>
            </a: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криз</a:t>
            </a:r>
            <a:r>
              <a:rPr lang="uk-UA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и</a:t>
            </a: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2022–2023</a:t>
            </a:r>
            <a:endParaRPr lang="en-US" sz="1350" dirty="0"/>
          </a:p>
        </p:txBody>
      </p:sp>
      <p:pic>
        <p:nvPicPr>
          <p:cNvPr id="5" name="Рисунок 4" descr="Зображення, що містить текст, схема, знімок екрана, ряд&#10;&#10;Вміст на основі ШІ може бути неправильним.">
            <a:extLst>
              <a:ext uri="{FF2B5EF4-FFF2-40B4-BE49-F238E27FC236}">
                <a16:creationId xmlns:a16="http://schemas.microsoft.com/office/drawing/2014/main" id="{73A6D812-EF35-B24C-C2AB-DE3A183018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785257"/>
            <a:ext cx="6008915" cy="33582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DDE2727-F850-ADBB-A629-A280194F06F6}"/>
              </a:ext>
            </a:extLst>
          </p:cNvPr>
          <p:cNvSpPr txBox="1"/>
          <p:nvPr/>
        </p:nvSpPr>
        <p:spPr>
          <a:xfrm>
            <a:off x="87085" y="3108776"/>
            <a:ext cx="2910114" cy="1914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800" dirty="0">
                <a:latin typeface="Arial" pitchFamily="34" charset="0"/>
                <a:ea typeface="Arial" pitchFamily="34" charset="-122"/>
                <a:cs typeface="Arial" pitchFamily="34" charset="-120"/>
              </a:rPr>
              <a:t>❓ </a:t>
            </a:r>
            <a:r>
              <a:rPr lang="en-US" sz="18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Питання</a:t>
            </a:r>
            <a:r>
              <a:rPr lang="en-US" sz="1800" dirty="0"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sz="18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чи</a:t>
            </a:r>
            <a:r>
              <a:rPr lang="en-US" sz="1800" dirty="0">
                <a:latin typeface="Arial" pitchFamily="34" charset="0"/>
                <a:ea typeface="Arial" pitchFamily="34" charset="-122"/>
                <a:cs typeface="Arial" pitchFamily="34" charset="-120"/>
              </a:rPr>
              <a:t> e-commerce </a:t>
            </a:r>
            <a:r>
              <a:rPr lang="en-US" sz="18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показує</a:t>
            </a:r>
            <a:r>
              <a:rPr lang="en-US" sz="18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8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стійкість</a:t>
            </a:r>
            <a:r>
              <a:rPr lang="en-US" sz="1800" dirty="0"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80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800" dirty="0">
                <a:latin typeface="Arial" pitchFamily="34" charset="0"/>
                <a:ea typeface="Arial" pitchFamily="34" charset="-122"/>
                <a:cs typeface="Arial" pitchFamily="34" charset="-120"/>
              </a:rPr>
              <a:t>🌐 </a:t>
            </a:r>
            <a:r>
              <a:rPr lang="en-US" sz="18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Роль</a:t>
            </a:r>
            <a:r>
              <a:rPr lang="en-US" sz="18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8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цифрової</a:t>
            </a:r>
            <a:r>
              <a:rPr lang="en-US" sz="18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8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інфраструктури</a:t>
            </a:r>
            <a:r>
              <a:rPr lang="en-US" sz="18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8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як</a:t>
            </a:r>
            <a:r>
              <a:rPr lang="en-US" sz="18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8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ключового</a:t>
            </a:r>
            <a:r>
              <a:rPr lang="en-US" sz="18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8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фактору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Дослідницькі питання | Research Questions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2217435"/>
            <a:ext cx="7620000" cy="1325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❓ </a:t>
            </a: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RQ1:</a:t>
            </a: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Чим відрізняються розвинені й розвивальні економіки за динамікою e‑commerce у періоди </a:t>
            </a:r>
            <a:r>
              <a:rPr lang="en-US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шоків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r>
              <a:rPr lang="ru-RU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Чи</a:t>
            </a:r>
            <a:r>
              <a:rPr lang="ru-RU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однаково</a:t>
            </a:r>
            <a:r>
              <a:rPr lang="ru-RU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вони </a:t>
            </a:r>
            <a:r>
              <a:rPr lang="ru-RU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реагують</a:t>
            </a:r>
            <a:r>
              <a:rPr lang="ru-RU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на шоки? 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❓ </a:t>
            </a: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RQ2:</a:t>
            </a: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Які структурні характеристики (цифрова інфраструктура, доходи, фінансова інклюзія, якість регуляції) пов'язані з </a:t>
            </a:r>
            <a:r>
              <a:rPr lang="en-US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більшою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стійкістю</a:t>
            </a:r>
            <a:r>
              <a:rPr lang="uk-UA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e-commerce?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❓ </a:t>
            </a: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RQ3:</a:t>
            </a: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Чи відрізняється динаміка e‑commerce у країнах з конфліктами порівняно з мирними країнами?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Зображення, що містить схема, ряд, текст, Графік&#10;&#10;Вміст на основі ШІ може бути неправильним.">
            <a:extLst>
              <a:ext uri="{FF2B5EF4-FFF2-40B4-BE49-F238E27FC236}">
                <a16:creationId xmlns:a16="http://schemas.microsoft.com/office/drawing/2014/main" id="{CF077EFF-B146-560A-BFBA-3D3ED85B8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67551"/>
            <a:ext cx="8776905" cy="3375949"/>
          </a:xfrm>
          <a:prstGeom prst="rect">
            <a:avLst/>
          </a:prstGeom>
        </p:spPr>
      </p:pic>
      <p:sp>
        <p:nvSpPr>
          <p:cNvPr id="5" name="Text 3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Дані і методологія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901589" y="1854452"/>
            <a:ext cx="3169629" cy="468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2012–2024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257915" y="2275580"/>
            <a:ext cx="239333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Період дослідження (1</a:t>
            </a:r>
            <a:r>
              <a:rPr lang="ru-RU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 років)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97910" y="2970342"/>
            <a:ext cx="148771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ru-RU" sz="3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419565" y="3362210"/>
            <a:ext cx="184440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Країни (6 регіонів)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80789" y="4000500"/>
            <a:ext cx="1320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14k+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-2545734" y="4464012"/>
            <a:ext cx="761695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Спостережень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5444" y="1175826"/>
            <a:ext cx="808329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Кореляційний аналіз | Регресійні моделі | Порівняння груп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 err="1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Ключові</a:t>
            </a: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700" b="1" dirty="0" err="1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індикатори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173725" y="3672303"/>
            <a:ext cx="187807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ITU ICT Indicators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63268" y="4047433"/>
            <a:ext cx="2298990" cy="427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Інтернет-користувачі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мобільна та широкосмугова мережа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530352" y="1777872"/>
            <a:ext cx="267636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GED Event Database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3638" y="1974126"/>
            <a:ext cx="2349790" cy="16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Інтенсивність конфліктів, тривалість, місцезнаходження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0" y="3246777"/>
            <a:ext cx="546386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E-commerce (Domestic &amp; International)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99385" y="3424300"/>
            <a:ext cx="2487676" cy="2361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Обсяги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трансакцій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трансграничні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потоки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4470763" y="2341655"/>
            <a:ext cx="422213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Bank Income Classification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375439" y="2566063"/>
            <a:ext cx="267636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Класифікація розвитку країн, групи доходів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530352" y="4952555"/>
            <a:ext cx="808329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Змінні: Залежна (e-commerce growth), Незалежні (internet penetration, development status, conflict intensity)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Глобальний тренд e-commerce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856064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💹 Експоненціальний ріст попри всі кризи (2012–2024)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600" y="2344396"/>
            <a:ext cx="2031275" cy="533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824"/>
              </a:lnSpc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Навіть під </a:t>
            </a:r>
            <a:r>
              <a:rPr lang="en-US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час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COVID-19</a:t>
            </a:r>
            <a:r>
              <a:rPr lang="uk-UA" sz="1200" dirty="0"/>
              <a:t> </a:t>
            </a:r>
            <a:r>
              <a:rPr lang="en-US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обсяги</a:t>
            </a:r>
            <a:r>
              <a:rPr lang="uk-UA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в більшості країн та регіонів тільки зростали.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C953B9-0F58-AB92-F23B-6AA14646E7DA}"/>
              </a:ext>
            </a:extLst>
          </p:cNvPr>
          <p:cNvSpPr txBox="1"/>
          <p:nvPr/>
        </p:nvSpPr>
        <p:spPr>
          <a:xfrm>
            <a:off x="535577" y="3365653"/>
            <a:ext cx="2031274" cy="531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4"/>
              </a:lnSpc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Зберегла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стійкість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під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час</a:t>
            </a:r>
            <a:r>
              <a:rPr lang="uk-UA" sz="1200" dirty="0"/>
              <a:t> </a:t>
            </a:r>
            <a:r>
              <a:rPr lang="en-US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конфлікту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в </a:t>
            </a:r>
            <a:r>
              <a:rPr lang="en-US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Україні</a:t>
            </a:r>
            <a:endParaRPr lang="en-US" sz="1200" dirty="0"/>
          </a:p>
        </p:txBody>
      </p:sp>
      <p:pic>
        <p:nvPicPr>
          <p:cNvPr id="11" name="Рисунок 10" descr="Зображення, що містить ряд, схема, Графік, Паралель&#10;&#10;Вміст на основі ШІ може бути неправильним.">
            <a:extLst>
              <a:ext uri="{FF2B5EF4-FFF2-40B4-BE49-F238E27FC236}">
                <a16:creationId xmlns:a16="http://schemas.microsoft.com/office/drawing/2014/main" id="{64953F58-9DAB-D9C8-840E-892478CE1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9954" y="2173506"/>
            <a:ext cx="6103996" cy="269893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A2C9BE-EF70-DB84-68D4-F92FB987929C}"/>
              </a:ext>
            </a:extLst>
          </p:cNvPr>
          <p:cNvSpPr txBox="1"/>
          <p:nvPr/>
        </p:nvSpPr>
        <p:spPr>
          <a:xfrm>
            <a:off x="535577" y="4206546"/>
            <a:ext cx="2031274" cy="762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4"/>
              </a:lnSpc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uk-UA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Прискорення цифрової трансформації під час криз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Розвинені vs Розвивальні країни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428857" y="1683352"/>
            <a:ext cx="215046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1C75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РОЗВИНЕНІ КРАЇНИ</a:t>
            </a:r>
            <a:endParaRPr lang="en-US" sz="1050" dirty="0">
              <a:solidFill>
                <a:srgbClr val="1C75B3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7303008" y="1695361"/>
            <a:ext cx="155508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F7E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РОЗВИВАЛЬНІ КРАЇНИ</a:t>
            </a:r>
            <a:endParaRPr lang="en-US" sz="1050" dirty="0">
              <a:solidFill>
                <a:srgbClr val="FF7E0C"/>
              </a:solidFill>
            </a:endParaRPr>
          </a:p>
        </p:txBody>
      </p:sp>
      <p:sp>
        <p:nvSpPr>
          <p:cNvPr id="14" name="Прямокутник 13">
            <a:extLst>
              <a:ext uri="{FF2B5EF4-FFF2-40B4-BE49-F238E27FC236}">
                <a16:creationId xmlns:a16="http://schemas.microsoft.com/office/drawing/2014/main" id="{321A5876-C2B0-412E-5C1F-A9AB43BBB787}"/>
              </a:ext>
            </a:extLst>
          </p:cNvPr>
          <p:cNvSpPr/>
          <p:nvPr/>
        </p:nvSpPr>
        <p:spPr>
          <a:xfrm>
            <a:off x="428857" y="1959434"/>
            <a:ext cx="2648066" cy="15999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7193280" y="1827946"/>
            <a:ext cx="166481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7E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CAGR: </a:t>
            </a:r>
            <a:r>
              <a:rPr lang="uk-UA" b="1" dirty="0">
                <a:solidFill>
                  <a:srgbClr val="FF7E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16-18</a:t>
            </a:r>
            <a:r>
              <a:rPr lang="en-US" sz="1800" b="1" dirty="0">
                <a:solidFill>
                  <a:srgbClr val="FF7E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800" dirty="0">
              <a:solidFill>
                <a:srgbClr val="FF7E0C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425530" y="1827946"/>
            <a:ext cx="215046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C75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CAGR: </a:t>
            </a:r>
            <a:r>
              <a:rPr lang="uk-UA" sz="1800" b="1" dirty="0">
                <a:solidFill>
                  <a:srgbClr val="1C75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8-12</a:t>
            </a:r>
            <a:r>
              <a:rPr lang="en-US" sz="1800" b="1" dirty="0">
                <a:solidFill>
                  <a:srgbClr val="1C75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800" dirty="0">
              <a:solidFill>
                <a:srgbClr val="1C75B3"/>
              </a:solidFill>
            </a:endParaRPr>
          </a:p>
        </p:txBody>
      </p:sp>
      <p:pic>
        <p:nvPicPr>
          <p:cNvPr id="3" name="Рисунок 2" descr="Зображення, що містить ряд, Графік, схема, текст&#10;&#10;Вміст на основі ШІ може бути неправильним.">
            <a:extLst>
              <a:ext uri="{FF2B5EF4-FFF2-40B4-BE49-F238E27FC236}">
                <a16:creationId xmlns:a16="http://schemas.microsoft.com/office/drawing/2014/main" id="{C3F30DA5-F98B-3664-26F2-B6495DA58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92520"/>
            <a:ext cx="9144000" cy="28199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Інтернет-проникнення: ключовий фактор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476772" y="2117877"/>
            <a:ext cx="245799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Кореляція інтернету та e-commerce</a:t>
            </a:r>
            <a:endParaRPr lang="en-US" sz="10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1363794" y="1678481"/>
            <a:ext cx="26839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0.74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956047" y="3275020"/>
            <a:ext cx="483932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  <a:t>Сильна позитивна кореляція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358600" y="3530843"/>
            <a:ext cx="4034214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Країни з &gt;85% </a:t>
            </a:r>
            <a:r>
              <a:rPr lang="en-US" sz="10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інтернет-користувачів</a:t>
            </a: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050" dirty="0"/>
          </a:p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 більший обсяг e-commerce</a:t>
            </a:r>
            <a:endParaRPr lang="en-US" sz="1050" dirty="0"/>
          </a:p>
        </p:txBody>
      </p:sp>
      <p:pic>
        <p:nvPicPr>
          <p:cNvPr id="9" name="Рисунок 8" descr="Зображення, що містить текст, знімок екрана, Шрифт, Графік&#10;&#10;Вміст на основі ШІ може бути неправильним.">
            <a:extLst>
              <a:ext uri="{FF2B5EF4-FFF2-40B4-BE49-F238E27FC236}">
                <a16:creationId xmlns:a16="http://schemas.microsoft.com/office/drawing/2014/main" id="{E0C69AA5-98AE-82C5-8FCF-034EC4A83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5" y="2398512"/>
            <a:ext cx="5827775" cy="27449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Конфлікт в Україні: європейський регіон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2738750" y="1034990"/>
            <a:ext cx="3481839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⚔️ Вплив на Європу та Центральну Азію (202</a:t>
            </a:r>
            <a:r>
              <a:rPr lang="ru-RU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–2023)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9600" y="2396731"/>
            <a:ext cx="111843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r>
              <a:rPr lang="uk-UA" sz="3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r>
              <a:rPr lang="en-US" sz="3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95752" y="2900009"/>
            <a:ext cx="134612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ЄС e-commerce 2022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0" y="3566222"/>
            <a:ext cx="21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r>
              <a:rPr lang="uk-UA" sz="3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3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19259" y="4018520"/>
            <a:ext cx="149911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Центр. Європа 2023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30352" y="5882283"/>
            <a:ext cx="808329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 показав резилієнтність: криза спонукала до онлайн-покупок</a:t>
            </a:r>
            <a:endParaRPr lang="en-US" sz="900" dirty="0"/>
          </a:p>
        </p:txBody>
      </p:sp>
      <p:pic>
        <p:nvPicPr>
          <p:cNvPr id="15" name="Рисунок 14" descr="Зображення, що містить текст, ряд, схема, Графік&#10;&#10;Вміст на основі ШІ може бути неправильним.">
            <a:extLst>
              <a:ext uri="{FF2B5EF4-FFF2-40B4-BE49-F238E27FC236}">
                <a16:creationId xmlns:a16="http://schemas.microsoft.com/office/drawing/2014/main" id="{6B5660FF-D5EF-3834-5358-5CD1BBF240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3025" y="2121991"/>
            <a:ext cx="7160976" cy="302150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49542" y="609600"/>
            <a:ext cx="4644768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Рекомендації для політики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2341917" y="2142827"/>
            <a:ext cx="4211973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💡 Інвестувати в цифрову інфраструктуру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341917" y="2611338"/>
            <a:ext cx="4211973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💡 </a:t>
            </a:r>
            <a:r>
              <a:rPr lang="en-US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Розширити</a:t>
            </a: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uk-UA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швидкісний </a:t>
            </a:r>
            <a:r>
              <a:rPr lang="en-US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доступ</a:t>
            </a: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до інтернету для усіх регіонів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341916" y="3245048"/>
            <a:ext cx="4211973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💡 Підтримувати СМВО в цифровій трансформації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341917" y="3713559"/>
            <a:ext cx="4211973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💡 Е-commerce = резилієнтність економіки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4E9BA-056F-0C9E-23AD-F3BD5616D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244B472-E12A-2804-4C91-D5655DA3BC09}"/>
              </a:ext>
            </a:extLst>
          </p:cNvPr>
          <p:cNvSpPr/>
          <p:nvPr/>
        </p:nvSpPr>
        <p:spPr>
          <a:xfrm>
            <a:off x="2249542" y="609600"/>
            <a:ext cx="4644768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Рекомендації </a:t>
            </a:r>
            <a:r>
              <a:rPr lang="en-US" sz="2700" b="1" dirty="0" err="1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</a:t>
            </a: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</a:t>
            </a:r>
            <a:r>
              <a:rPr lang="uk-UA" sz="2700" b="1" dirty="0" err="1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ізнесу</a:t>
            </a:r>
            <a:endParaRPr lang="en-US" sz="27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541BEB6-46D1-3291-2A39-96E66BE3AA84}"/>
              </a:ext>
            </a:extLst>
          </p:cNvPr>
          <p:cNvSpPr/>
          <p:nvPr/>
        </p:nvSpPr>
        <p:spPr>
          <a:xfrm>
            <a:off x="2341917" y="2142827"/>
            <a:ext cx="4211973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890"/>
              </a:lnSpc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💡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E-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commerce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показує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резилієнтність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, тому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це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надійний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канал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навіть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в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периоди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криз</a:t>
            </a:r>
            <a:endParaRPr lang="en-US" sz="13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88488D0-00D7-5E24-4405-D8887ABBD27D}"/>
              </a:ext>
            </a:extLst>
          </p:cNvPr>
          <p:cNvSpPr/>
          <p:nvPr/>
        </p:nvSpPr>
        <p:spPr>
          <a:xfrm>
            <a:off x="2341917" y="2802371"/>
            <a:ext cx="4211973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890"/>
              </a:lnSpc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💡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Спрямуйте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ресурси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на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мобільну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оптимізацію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та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логістику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ці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фактори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критичні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3467754-F399-FE09-5719-B5A5F96CB995}"/>
              </a:ext>
            </a:extLst>
          </p:cNvPr>
          <p:cNvSpPr/>
          <p:nvPr/>
        </p:nvSpPr>
        <p:spPr>
          <a:xfrm>
            <a:off x="2341916" y="3514843"/>
            <a:ext cx="4211973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890"/>
              </a:lnSpc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💡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Розглядайте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розширення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на ринки з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зростаючим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інтернет-проникненням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36541267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Ключові висновки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59526" y="2242703"/>
            <a:ext cx="7620000" cy="1271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✅ E-commerce </a:t>
            </a:r>
            <a:r>
              <a:rPr lang="en-US" sz="135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стійка до криз</a:t>
            </a: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— зростає у </a:t>
            </a:r>
            <a:r>
              <a:rPr lang="uk-UA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періоди економічних та геополітичних криз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✅ </a:t>
            </a:r>
            <a:r>
              <a:rPr lang="en-US" sz="135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Розвинені країни</a:t>
            </a: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показують 3.5x </a:t>
            </a:r>
            <a:r>
              <a:rPr lang="en-US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вищу</a:t>
            </a: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стійкість</a:t>
            </a:r>
            <a:r>
              <a:rPr lang="uk-UA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та стабільність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✅ Інтернет-інфраструктура — </a:t>
            </a:r>
            <a:r>
              <a:rPr lang="en-US" sz="1350" b="1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основний</a:t>
            </a:r>
            <a:r>
              <a:rPr lang="en-US" sz="135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b="1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драйвер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✅ </a:t>
            </a:r>
            <a:r>
              <a:rPr lang="en-US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Криза</a:t>
            </a: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r>
              <a:rPr lang="en-US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прискорення</a:t>
            </a: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цифрової</a:t>
            </a: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трансформації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підвищення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частки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електроної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торгівлі</a:t>
            </a:r>
            <a:endParaRPr lang="en-US" sz="13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52CFC7C-819A-7D2D-0208-5342406236C9}"/>
              </a:ext>
            </a:extLst>
          </p:cNvPr>
          <p:cNvSpPr/>
          <p:nvPr/>
        </p:nvSpPr>
        <p:spPr>
          <a:xfrm>
            <a:off x="3683944" y="4347270"/>
            <a:ext cx="177596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 за увагу! Питання?</a:t>
            </a:r>
            <a:endParaRPr lang="en-US" sz="1050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Зал засідань">
  <a:themeElements>
    <a:clrScheme name="Зал засідань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Зал засідань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Зал засідань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782</TotalTime>
  <Words>487</Words>
  <Application>Microsoft Office PowerPoint</Application>
  <PresentationFormat>Екран (16:9)</PresentationFormat>
  <Paragraphs>85</Paragraphs>
  <Slides>12</Slides>
  <Notes>12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12</vt:i4>
      </vt:variant>
    </vt:vector>
  </HeadingPairs>
  <TitlesOfParts>
    <vt:vector size="16" baseType="lpstr">
      <vt:lpstr>Arial</vt:lpstr>
      <vt:lpstr>Century Gothic</vt:lpstr>
      <vt:lpstr>Wingdings 3</vt:lpstr>
      <vt:lpstr>Зал засідань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Company>Perplexity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Ilya Lobachov</cp:lastModifiedBy>
  <cp:revision>6</cp:revision>
  <dcterms:created xsi:type="dcterms:W3CDTF">2026-01-22T10:26:33Z</dcterms:created>
  <dcterms:modified xsi:type="dcterms:W3CDTF">2026-01-28T14:25:51Z</dcterms:modified>
</cp:coreProperties>
</file>