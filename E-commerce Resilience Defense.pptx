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4"/>
  </p:notesMasterIdLst>
  <p:sldIdLst>
    <p:sldId id="268" r:id="rId2"/>
    <p:sldId id="257" r:id="rId3"/>
    <p:sldId id="269" r:id="rId4"/>
    <p:sldId id="258" r:id="rId5"/>
    <p:sldId id="270" r:id="rId6"/>
    <p:sldId id="259" r:id="rId7"/>
    <p:sldId id="260" r:id="rId8"/>
    <p:sldId id="262" r:id="rId9"/>
    <p:sldId id="263" r:id="rId10"/>
    <p:sldId id="266" r:id="rId11"/>
    <p:sldId id="271" r:id="rId12"/>
    <p:sldId id="265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0C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0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59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C7A5-6367-3F51-D486-90BF47E4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037FF-E25F-AEEA-4158-FF5BDDC21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712A4-190B-7C02-B08C-83A5D79BE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23E3-37B1-85E9-8B54-2CDB9DBF2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7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4034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683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7990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136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769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935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002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3928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423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5629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91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5512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97761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637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676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005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6875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32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5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2946" y="596652"/>
            <a:ext cx="631795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Панельний аналіз стійкості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221432"/>
            <a:ext cx="79248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електронної комерції до глобальних криз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82708" y="2470993"/>
            <a:ext cx="4978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E-commerce Resilience During Global Shocks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51823" y="3347293"/>
            <a:ext cx="3840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</a:t>
            </a:r>
            <a:r>
              <a:rPr lang="en-US" sz="10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Академічне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дослідження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51823" y="3587204"/>
            <a:ext cx="3840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Панельні дані 2012–2024 | </a:t>
            </a:r>
            <a:r>
              <a:rPr lang="ru-RU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країн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823" y="3827115"/>
            <a:ext cx="3840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Лобачов Ілля Олександрович | Владислав Вдовенко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823" y="4067026"/>
            <a:ext cx="3840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</a:t>
            </a:r>
            <a:r>
              <a:rPr lang="en-US" sz="10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Січень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823" y="4306937"/>
            <a:ext cx="3840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Master of Science in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Актуальність дослідження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48190" y="1783258"/>
            <a:ext cx="3151269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🦠 COVID-19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⚔️</a:t>
            </a: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Повномасштабна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Війна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Україні</a:t>
            </a:r>
            <a:endParaRPr lang="uk-UA" sz="135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Е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нергетична</a:t>
            </a: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та економічна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криз</a:t>
            </a: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uk-UA" sz="1350" dirty="0">
                <a:latin typeface="Arial" pitchFamily="34" charset="0"/>
                <a:cs typeface="Arial" pitchFamily="34" charset="-120"/>
              </a:rPr>
              <a:t>Торгові війни</a:t>
            </a:r>
            <a:endParaRPr lang="en-US" sz="1350" dirty="0"/>
          </a:p>
        </p:txBody>
      </p:sp>
      <p:pic>
        <p:nvPicPr>
          <p:cNvPr id="5" name="Рисунок 4" descr="Зображення, що містить текст, схема, знімок екрана, ряд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73A6D812-EF35-B24C-C2AB-DE3A1830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591" y="1785257"/>
            <a:ext cx="5850419" cy="3358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DE2727-F850-ADBB-A629-A280194F06F6}"/>
              </a:ext>
            </a:extLst>
          </p:cNvPr>
          <p:cNvSpPr txBox="1"/>
          <p:nvPr/>
        </p:nvSpPr>
        <p:spPr>
          <a:xfrm>
            <a:off x="0" y="3628390"/>
            <a:ext cx="2910114" cy="129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30"/>
              </a:lnSpc>
              <a:buSzPct val="100000"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❓ </a:t>
            </a:r>
            <a:r>
              <a:rPr lang="en-US" sz="18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Питання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18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</a:t>
            </a:r>
            <a:r>
              <a:rPr lang="ru-RU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електронна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комерція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є </a:t>
            </a:r>
            <a:r>
              <a:rPr lang="ru-RU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стійкою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до таких </a:t>
            </a:r>
            <a:r>
              <a:rPr lang="ru-RU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глобальних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шоків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ru-RU" sz="2700" dirty="0" err="1">
                <a:solidFill>
                  <a:srgbClr val="00B0F0"/>
                </a:solidFill>
              </a:rPr>
              <a:t>Дослідження</a:t>
            </a:r>
            <a:r>
              <a:rPr lang="ru-RU" sz="2700" dirty="0">
                <a:solidFill>
                  <a:srgbClr val="00B0F0"/>
                </a:solidFill>
              </a:rPr>
              <a:t> </a:t>
            </a:r>
            <a:r>
              <a:rPr lang="ru-RU" sz="2700" dirty="0" err="1">
                <a:solidFill>
                  <a:srgbClr val="00B0F0"/>
                </a:solidFill>
              </a:rPr>
              <a:t>базується</a:t>
            </a:r>
            <a:r>
              <a:rPr lang="ru-RU" sz="2700" dirty="0">
                <a:solidFill>
                  <a:srgbClr val="00B0F0"/>
                </a:solidFill>
              </a:rPr>
              <a:t> на </a:t>
            </a:r>
            <a:r>
              <a:rPr lang="ru-RU" sz="2700" dirty="0" err="1">
                <a:solidFill>
                  <a:srgbClr val="00B0F0"/>
                </a:solidFill>
              </a:rPr>
              <a:t>трьох</a:t>
            </a:r>
            <a:r>
              <a:rPr lang="ru-RU" sz="2700" dirty="0">
                <a:solidFill>
                  <a:srgbClr val="00B0F0"/>
                </a:solidFill>
              </a:rPr>
              <a:t> </a:t>
            </a:r>
            <a:r>
              <a:rPr lang="ru-RU" sz="2700" dirty="0" err="1">
                <a:solidFill>
                  <a:srgbClr val="00B0F0"/>
                </a:solidFill>
              </a:rPr>
              <a:t>ключових</a:t>
            </a:r>
            <a:r>
              <a:rPr lang="ru-RU" sz="2700" dirty="0">
                <a:solidFill>
                  <a:srgbClr val="00B0F0"/>
                </a:solidFill>
              </a:rPr>
              <a:t> </a:t>
            </a:r>
            <a:r>
              <a:rPr lang="ru-RU" sz="2700" dirty="0" err="1">
                <a:solidFill>
                  <a:srgbClr val="00B0F0"/>
                </a:solidFill>
              </a:rPr>
              <a:t>питаннях</a:t>
            </a:r>
            <a:r>
              <a:rPr lang="ru-RU" sz="2700" dirty="0">
                <a:solidFill>
                  <a:srgbClr val="00B0F0"/>
                </a:solidFill>
              </a:rPr>
              <a:t>:</a:t>
            </a:r>
            <a:endParaRPr lang="en-US" sz="27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217435"/>
            <a:ext cx="7620000" cy="611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79C6E-EAFC-004F-A1EB-9DA23A8EEA63}"/>
              </a:ext>
            </a:extLst>
          </p:cNvPr>
          <p:cNvSpPr txBox="1"/>
          <p:nvPr/>
        </p:nvSpPr>
        <p:spPr>
          <a:xfrm>
            <a:off x="4364736" y="3966423"/>
            <a:ext cx="3864864" cy="92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</a:t>
            </a:r>
            <a:r>
              <a:rPr lang="uk-UA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Третє</a:t>
            </a: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відрізняється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динаміка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e‑commerce у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країнах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з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конфліктами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порівняно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з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мирними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країнами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759AD-050F-3334-12C8-8C914FE47E01}"/>
              </a:ext>
            </a:extLst>
          </p:cNvPr>
          <p:cNvSpPr txBox="1"/>
          <p:nvPr/>
        </p:nvSpPr>
        <p:spPr>
          <a:xfrm>
            <a:off x="195072" y="2769621"/>
            <a:ext cx="3718560" cy="1478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</a:t>
            </a:r>
            <a:r>
              <a:rPr lang="uk-UA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Друге</a:t>
            </a: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Які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структурні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цифрова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інфраструктура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доходи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фінансова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інклюзія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якість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регуляції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пов'язані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з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більшою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стійкістю</a:t>
            </a:r>
            <a:r>
              <a:rPr lang="uk-UA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e-commerce?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7BAF06-3D94-DC97-87E3-A57E8A92DDF9}"/>
              </a:ext>
            </a:extLst>
          </p:cNvPr>
          <p:cNvSpPr txBox="1"/>
          <p:nvPr/>
        </p:nvSpPr>
        <p:spPr>
          <a:xfrm>
            <a:off x="4364736" y="1829948"/>
            <a:ext cx="3864864" cy="1478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</a:t>
            </a:r>
            <a:r>
              <a:rPr lang="uk-UA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Перше</a:t>
            </a: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Чим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відрізняються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розвинені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й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розвивальні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економіки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динамікою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e‑commerce у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періоди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шоків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r>
              <a:rPr lang="ru-RU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Чи</a:t>
            </a:r>
            <a:r>
              <a:rPr lang="ru-RU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однаково</a:t>
            </a:r>
            <a:r>
              <a:rPr lang="ru-RU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вони </a:t>
            </a:r>
            <a:r>
              <a:rPr lang="ru-RU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реагують</a:t>
            </a:r>
            <a:r>
              <a:rPr lang="ru-RU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на них?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Зображення, що містить схема, ряд, текст, Графік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CF077EFF-B146-560A-BFBA-3D3ED85B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7551"/>
            <a:ext cx="8776905" cy="3375949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2902132" y="578172"/>
            <a:ext cx="31699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Дані і методологія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901589" y="1854452"/>
            <a:ext cx="3169629" cy="468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2012–2024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57915" y="2275580"/>
            <a:ext cx="23933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Період дослідження (1</a:t>
            </a:r>
            <a:r>
              <a:rPr lang="ru-RU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років)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97910" y="2970342"/>
            <a:ext cx="14877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ru-RU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19565" y="3362210"/>
            <a:ext cx="18444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Країни (6 регіонів)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789" y="4000500"/>
            <a:ext cx="132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-2545734" y="446401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Спостережень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5444" y="1175826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Кореляційний аналіз | Регресійні моделі | Порівняння груп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579152" y="691207"/>
            <a:ext cx="422213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</a:t>
            </a:r>
            <a:r>
              <a:rPr lang="uk-UA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Джерела Даних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173725" y="3672303"/>
            <a:ext cx="18780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 ICT Indicators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63268" y="4047433"/>
            <a:ext cx="2298990" cy="4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uk-UA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проникнення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мобільна та широкосмугова мережа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1777872"/>
            <a:ext cx="26763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 Event Database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3638" y="1974126"/>
            <a:ext cx="2349790" cy="1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Інтенсивність конфліктів, тривалість, місцезнаходження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0" y="3246777"/>
            <a:ext cx="5463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E-commerce (Domestic &amp; International)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9385" y="3424300"/>
            <a:ext cx="2487676" cy="23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Обсяги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e-commerce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трансакцій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трансграничні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потоки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70763" y="2341655"/>
            <a:ext cx="42221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Income Classification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75439" y="2566063"/>
            <a:ext cx="26763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Класифікація розвитку країн, групи доходів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4952555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Змінні: Залежна (e-commerce growth), Незалежні (internet penetration, development status, conflict intensity)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Глобальний тренд e-commerce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85606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💹 Експоненціальний ріст попри всі кризи (2012–2024)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44396"/>
            <a:ext cx="2031275" cy="53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4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Навіть під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час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COVID-19</a:t>
            </a:r>
            <a:r>
              <a:rPr lang="uk-UA" sz="1200" dirty="0"/>
              <a:t>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обсяги</a:t>
            </a:r>
            <a:r>
              <a:rPr lang="uk-UA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в більшості країн та регіонів тільки зростали.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953B9-0F58-AB92-F23B-6AA14646E7DA}"/>
              </a:ext>
            </a:extLst>
          </p:cNvPr>
          <p:cNvSpPr txBox="1"/>
          <p:nvPr/>
        </p:nvSpPr>
        <p:spPr>
          <a:xfrm>
            <a:off x="535577" y="3365653"/>
            <a:ext cx="2031274" cy="531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4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Зберегла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стійкість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під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час</a:t>
            </a:r>
            <a:r>
              <a:rPr lang="uk-UA" sz="1200" dirty="0"/>
              <a:t> </a:t>
            </a:r>
            <a:r>
              <a:rPr lang="uk-UA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війни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Україні</a:t>
            </a:r>
            <a:endParaRPr lang="en-US" sz="1200" dirty="0"/>
          </a:p>
        </p:txBody>
      </p:sp>
      <p:pic>
        <p:nvPicPr>
          <p:cNvPr id="11" name="Рисунок 10" descr="Зображення, що містить ряд, схема, Графік, Паралель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64953F58-9DAB-D9C8-840E-892478CE1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54" y="2173506"/>
            <a:ext cx="6103996" cy="26989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A2C9BE-EF70-DB84-68D4-F92FB987929C}"/>
              </a:ext>
            </a:extLst>
          </p:cNvPr>
          <p:cNvSpPr txBox="1"/>
          <p:nvPr/>
        </p:nvSpPr>
        <p:spPr>
          <a:xfrm>
            <a:off x="535577" y="4206546"/>
            <a:ext cx="2031274" cy="76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4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Прискорення цифрової трансформації під час криз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Розвинені vs Розвивальні країни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28857" y="1683352"/>
            <a:ext cx="2150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C7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РОЗВИНЕНІ КРАЇНИ</a:t>
            </a:r>
            <a:endParaRPr lang="en-US" sz="1050" dirty="0">
              <a:solidFill>
                <a:srgbClr val="1C75B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03008" y="1695361"/>
            <a:ext cx="15550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7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РОЗВИВАЛЬНІ КРАЇНИ</a:t>
            </a:r>
            <a:endParaRPr lang="en-US" sz="1050" dirty="0">
              <a:solidFill>
                <a:srgbClr val="FF7E0C"/>
              </a:solidFill>
            </a:endParaRP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321A5876-C2B0-412E-5C1F-A9AB43BBB787}"/>
              </a:ext>
            </a:extLst>
          </p:cNvPr>
          <p:cNvSpPr/>
          <p:nvPr/>
        </p:nvSpPr>
        <p:spPr>
          <a:xfrm>
            <a:off x="428857" y="1959434"/>
            <a:ext cx="2648066" cy="159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7193280" y="1827946"/>
            <a:ext cx="16648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CAGR: </a:t>
            </a:r>
            <a:r>
              <a:rPr lang="uk-UA" b="1" dirty="0">
                <a:solidFill>
                  <a:srgbClr val="FF7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16-18</a:t>
            </a:r>
            <a:r>
              <a:rPr lang="en-US" sz="1800" b="1" dirty="0">
                <a:solidFill>
                  <a:srgbClr val="FF7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>
              <a:solidFill>
                <a:srgbClr val="FF7E0C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25530" y="1827946"/>
            <a:ext cx="21504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C7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CAGR: </a:t>
            </a:r>
            <a:r>
              <a:rPr lang="uk-UA" sz="1800" b="1" dirty="0">
                <a:solidFill>
                  <a:srgbClr val="1C7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</a:t>
            </a:r>
            <a:r>
              <a:rPr lang="en-US" sz="1800" b="1" dirty="0">
                <a:solidFill>
                  <a:srgbClr val="1C7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>
              <a:solidFill>
                <a:srgbClr val="1C75B3"/>
              </a:solidFill>
            </a:endParaRPr>
          </a:p>
        </p:txBody>
      </p:sp>
      <p:pic>
        <p:nvPicPr>
          <p:cNvPr id="3" name="Рисунок 2" descr="Зображення, що містить ряд, Графік, схема, текс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C3F30DA5-F98B-3664-26F2-B6495DA58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2520"/>
            <a:ext cx="9144000" cy="2819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Інтернет-проникнення: ключовий фактор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476772" y="2117877"/>
            <a:ext cx="2457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Кореляція інтернету та e-commerce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363794" y="1678481"/>
            <a:ext cx="2683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0.74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956047" y="3275020"/>
            <a:ext cx="4839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Сильна позитивна кореляція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58600" y="3530843"/>
            <a:ext cx="40342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Країни з &gt;85% </a:t>
            </a:r>
            <a:r>
              <a:rPr lang="en-US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інтернет-користувачів</a:t>
            </a: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50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більший обсяг e-commerce</a:t>
            </a:r>
            <a:endParaRPr lang="en-US" sz="1050" dirty="0"/>
          </a:p>
        </p:txBody>
      </p:sp>
      <p:pic>
        <p:nvPicPr>
          <p:cNvPr id="9" name="Рисунок 8" descr="Зображення, що містить текст, знімок екрана, Шрифт, Графік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E0C69AA5-98AE-82C5-8FCF-034EC4A8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5" y="2398512"/>
            <a:ext cx="5827775" cy="2744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uk-UA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Війна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Україні: європейський регіон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738750" y="1034990"/>
            <a:ext cx="34818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Вплив на Європу та Центральну Азію (202</a:t>
            </a:r>
            <a:r>
              <a:rPr lang="ru-RU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–2023)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396731"/>
            <a:ext cx="11184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r>
              <a:rPr lang="uk-UA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95752" y="2900009"/>
            <a:ext cx="1346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ЄС e-commerce 2022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0" y="3566222"/>
            <a:ext cx="2184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r>
              <a:rPr lang="uk-UA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9259" y="4018520"/>
            <a:ext cx="14991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Центр. Європа 2023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5882283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показав резилієнтність: криза спонукала до онлайн-покупок</a:t>
            </a:r>
            <a:endParaRPr lang="en-US" sz="900" dirty="0"/>
          </a:p>
        </p:txBody>
      </p:sp>
      <p:pic>
        <p:nvPicPr>
          <p:cNvPr id="15" name="Рисунок 14" descr="Зображення, що містить текст, ряд, схема, Графік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6B5660FF-D5EF-3834-5358-5CD1BBF2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25" y="2121991"/>
            <a:ext cx="7160976" cy="3021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9542" y="609600"/>
            <a:ext cx="464476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Рекомендації для політики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2880" y="2142827"/>
            <a:ext cx="819302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💡 Інвестувати в цифрову інфраструктуру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2611338"/>
            <a:ext cx="819302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Розширити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швидкісний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до інтернету для усіх регіонів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79" y="3245048"/>
            <a:ext cx="819302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Підтримувати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малий та середній бізнес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в цифровій трансформації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3713559"/>
            <a:ext cx="819302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💡 Е-commerce = резилієнтність економіки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E9BA-056F-0C9E-23AD-F3BD5616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44B472-E12A-2804-4C91-D5655DA3BC09}"/>
              </a:ext>
            </a:extLst>
          </p:cNvPr>
          <p:cNvSpPr/>
          <p:nvPr/>
        </p:nvSpPr>
        <p:spPr>
          <a:xfrm>
            <a:off x="2249542" y="609600"/>
            <a:ext cx="464476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Рекомендації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r>
              <a:rPr lang="uk-UA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ізнесу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41BEB6-46D1-3291-2A39-96E66BE3AA84}"/>
              </a:ext>
            </a:extLst>
          </p:cNvPr>
          <p:cNvSpPr/>
          <p:nvPr/>
        </p:nvSpPr>
        <p:spPr>
          <a:xfrm>
            <a:off x="2341917" y="2142827"/>
            <a:ext cx="42119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E-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commerce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показує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резилієнтність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, тому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це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надійний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канал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навіть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периоди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криз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8488D0-00D7-5E24-4405-D8887ABBD27D}"/>
              </a:ext>
            </a:extLst>
          </p:cNvPr>
          <p:cNvSpPr/>
          <p:nvPr/>
        </p:nvSpPr>
        <p:spPr>
          <a:xfrm>
            <a:off x="2341917" y="2802371"/>
            <a:ext cx="42119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Спрямуйте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ресурси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на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мобільну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оптимізацію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та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логістику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ці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фактори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критичні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467754-F399-FE09-5719-B5A5F96CB995}"/>
              </a:ext>
            </a:extLst>
          </p:cNvPr>
          <p:cNvSpPr/>
          <p:nvPr/>
        </p:nvSpPr>
        <p:spPr>
          <a:xfrm>
            <a:off x="2341916" y="3514843"/>
            <a:ext cx="42119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Розглядайте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розширення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на ринки з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зростаючим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інтернет-проникненням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5412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uk-UA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Загальні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висновки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9526" y="2242703"/>
            <a:ext cx="7620000" cy="127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✅ E-commerce </a:t>
            </a: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стійка </a:t>
            </a:r>
            <a:r>
              <a:rPr lang="en-US" sz="135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шоків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— зростає у </a:t>
            </a: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періоди економічних та геополітичних криз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Розвинені країни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показують 3.5x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вищу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стійкість</a:t>
            </a:r>
            <a:r>
              <a:rPr lang="uk-UA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та стабільність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✅ Інтернет-інфраструктура — </a:t>
            </a:r>
            <a:r>
              <a:rPr lang="en-US" sz="135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основний</a:t>
            </a: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драйвер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Криза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прискорення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цифрової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трансформації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підвищення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частки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електроної</a:t>
            </a:r>
            <a:r>
              <a:rPr lang="ru-RU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3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торгівлі</a:t>
            </a:r>
            <a:endParaRPr lang="en-US" sz="13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2CFC7C-819A-7D2D-0208-5342406236C9}"/>
              </a:ext>
            </a:extLst>
          </p:cNvPr>
          <p:cNvSpPr/>
          <p:nvPr/>
        </p:nvSpPr>
        <p:spPr>
          <a:xfrm>
            <a:off x="3683944" y="4347270"/>
            <a:ext cx="17759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увагу! Питання?</a:t>
            </a:r>
            <a:endParaRPr lang="en-US" sz="10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Зал засідань">
  <a:themeElements>
    <a:clrScheme name="Зал засідань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Зал засідань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Зал засідань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1006</TotalTime>
  <Words>491</Words>
  <Application>Microsoft Office PowerPoint</Application>
  <PresentationFormat>Екран (16:9)</PresentationFormat>
  <Paragraphs>86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Зал засідань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Ilya Lobachov</cp:lastModifiedBy>
  <cp:revision>7</cp:revision>
  <dcterms:created xsi:type="dcterms:W3CDTF">2026-01-22T10:26:33Z</dcterms:created>
  <dcterms:modified xsi:type="dcterms:W3CDTF">2026-01-29T17:33:10Z</dcterms:modified>
</cp:coreProperties>
</file>